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3d012b1c94415b" /><Relationship Type="http://schemas.openxmlformats.org/officeDocument/2006/relationships/extended-properties" Target="/docProps/app.xml" Id="R184e165530d54938" /><Relationship Type="http://schemas.openxmlformats.org/officeDocument/2006/relationships/officeDocument" Target="/ppt/presentation.xml" Id="R839e3ebf86dc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3ad091bace4ed2"/>
  </p:sldMasterIdLst>
  <p:notesMasterIdLst>
    <p:notesMasterId xmlns:r="http://schemas.openxmlformats.org/officeDocument/2006/relationships" r:id="R770e9dc30b4b4662"/>
  </p:notesMasterIdLst>
  <p:sldIdLst>
    <p:sldId xmlns:r="http://schemas.openxmlformats.org/officeDocument/2006/relationships" id="256" r:id="R5bffac6f25d340f6"/>
    <p:sldId xmlns:r="http://schemas.openxmlformats.org/officeDocument/2006/relationships" id="257" r:id="Re3f46667a4094842"/>
    <p:sldId xmlns:r="http://schemas.openxmlformats.org/officeDocument/2006/relationships" id="258" r:id="R671c975a1b7a4b30"/>
    <p:sldId xmlns:r="http://schemas.openxmlformats.org/officeDocument/2006/relationships" id="259" r:id="Rf3250b7dd9e64493"/>
    <p:sldId xmlns:r="http://schemas.openxmlformats.org/officeDocument/2006/relationships" id="260" r:id="R1f9cff53cbfa47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cf8b2247b746b9" /><Relationship Type="http://schemas.openxmlformats.org/officeDocument/2006/relationships/slideMaster" Target="/ppt/slideMasters/slideMaster1.xml" Id="R1f3ad091bace4ed2" /><Relationship Type="http://schemas.openxmlformats.org/officeDocument/2006/relationships/notesMaster" Target="/ppt/notesMasters/notesMaster1.xml" Id="R770e9dc30b4b4662" /><Relationship Type="http://schemas.openxmlformats.org/officeDocument/2006/relationships/presProps" Target="/ppt/presProps.xml" Id="Rc31afb128ff94533" /><Relationship Type="http://schemas.openxmlformats.org/officeDocument/2006/relationships/tableStyles" Target="/ppt/tableStyles.xml" Id="R254dc7bd75ca40fc" /><Relationship Type="http://schemas.openxmlformats.org/officeDocument/2006/relationships/slide" Target="/ppt/slides/slide1.xml" Id="R5bffac6f25d340f6" /><Relationship Type="http://schemas.openxmlformats.org/officeDocument/2006/relationships/slide" Target="/ppt/slides/slide2.xml" Id="Re3f46667a4094842" /><Relationship Type="http://schemas.openxmlformats.org/officeDocument/2006/relationships/slide" Target="/ppt/slides/slide3.xml" Id="R671c975a1b7a4b30" /><Relationship Type="http://schemas.openxmlformats.org/officeDocument/2006/relationships/slide" Target="/ppt/slides/slide4.xml" Id="Rf3250b7dd9e64493" /><Relationship Type="http://schemas.openxmlformats.org/officeDocument/2006/relationships/slide" Target="/ppt/slides/slide5.xml" Id="R1f9cff53cbfa47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9543c311fd49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cdf9367d8442e6" /><Relationship Type="http://schemas.openxmlformats.org/officeDocument/2006/relationships/notesMaster" Target="/ppt/notesMasters/notesMaster1.xml" Id="Rbf1cbfd8619845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8007e2be0a4465" /><Relationship Type="http://schemas.openxmlformats.org/officeDocument/2006/relationships/notesMaster" Target="/ppt/notesMasters/notesMaster1.xml" Id="Rfca967006f2546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0950454e3149cf" /><Relationship Type="http://schemas.openxmlformats.org/officeDocument/2006/relationships/notesMaster" Target="/ppt/notesMasters/notesMaster1.xml" Id="R7c2aafce78a749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edef48f8a84ea0" /><Relationship Type="http://schemas.openxmlformats.org/officeDocument/2006/relationships/notesMaster" Target="/ppt/notesMasters/notesMaster1.xml" Id="Re1b134dd21e64e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b1f2b5e93a4d4b" /><Relationship Type="http://schemas.openxmlformats.org/officeDocument/2006/relationships/notesMaster" Target="/ppt/notesMasters/notesMaster1.xml" Id="Rd95562c9c5a54f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ac32ee9e842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2942fcb0d04e69" /><Relationship Type="http://schemas.openxmlformats.org/officeDocument/2006/relationships/slideLayout" Target="/ppt/slideLayouts/slideLayout1.xml" Id="Re623fc5dd34f44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23fc5dd34f44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a6b48820c482b" /><Relationship Type="http://schemas.openxmlformats.org/officeDocument/2006/relationships/notesSlide" Target="/ppt/notesSlides/notesSlide1.xml" Id="Rdefe0a9380b341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d2cf7c90b46ed" /><Relationship Type="http://schemas.openxmlformats.org/officeDocument/2006/relationships/notesSlide" Target="/ppt/notesSlides/notesSlide2.xml" Id="Rc88c815c56ce4b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88d382a564477" /><Relationship Type="http://schemas.openxmlformats.org/officeDocument/2006/relationships/notesSlide" Target="/ppt/notesSlides/notesSlide3.xml" Id="R5966e9714bb44f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14d7079ef420e" /><Relationship Type="http://schemas.openxmlformats.org/officeDocument/2006/relationships/notesSlide" Target="/ppt/notesSlides/notesSlide4.xml" Id="R4b0b25dea1dd4f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afe15ea6e4fe5" /><Relationship Type="http://schemas.openxmlformats.org/officeDocument/2006/relationships/notesSlide" Target="/ppt/notesSlides/notesSlide5.xml" Id="Reb455bdc7d494e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E1050-20B4-4877-9827-03C4217B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DCB44-F79B-4A1B-B0B3-4D32F41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FC7FF"/>
                </a:solidFill>
              </a:defRPr>
            </a:pPr>
            <a:r>
              <a:rPr sz="975" b="1">
                <a:solidFill>
                  <a:srgbClr val="7FC7FF"/>
                </a:solidFill>
              </a:rPr>
              <a:t>PI PROJECT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55BD5-7A46-4590-B611-8355FD87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Project Execution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&amp; Control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DB88B-190E-4CA8-BCE8-94DDAE1D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D4E2"/>
                </a:solidFill>
              </a:defRPr>
            </a:pPr>
            <a:r>
              <a:rPr sz="1575" b="0">
                <a:solidFill>
                  <a:srgbClr val="C7D4E2"/>
                </a:solidFill>
              </a:rPr>
              <a:t>SOP Overview — Core structure for quick alignment and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77DE3-4736-4724-9781-F7E8B757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FFCDF-6D51-42BB-BE0F-D5D019A9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67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  WHY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5E432-7961-4EBF-851E-C8F1FF09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66725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B59"/>
          </a:solidFill>
          <a:ln xmlns:a="http://schemas.openxmlformats.org/drawingml/2006/main" w="9525">
            <a:solidFill>
              <a:srgbClr val="183B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BBC3D-122B-449E-8D0A-AF22E099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67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  HOW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2832B-FCE1-414A-9DBA-688931C4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6725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B59"/>
          </a:solidFill>
          <a:ln xmlns:a="http://schemas.openxmlformats.org/drawingml/2006/main" w="9525">
            <a:solidFill>
              <a:srgbClr val="183B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8EB2D-4F78-4DD1-AA7A-1B52293B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67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  WHO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C1BE6-EEEA-42DC-889F-57CBA158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6725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B59"/>
          </a:solidFill>
          <a:ln xmlns:a="http://schemas.openxmlformats.org/drawingml/2006/main" w="9525">
            <a:solidFill>
              <a:srgbClr val="183B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368A3-6119-49C9-A9A3-128674EA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 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8B91E-F6AE-4657-B4B0-13ABA499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15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FB2C4"/>
                </a:solidFill>
              </a:defRPr>
            </a:pPr>
            <a:r>
              <a:rPr sz="1050" b="1">
                <a:solidFill>
                  <a:srgbClr val="9FB2C4"/>
                </a:solidFill>
              </a:rPr>
              <a:t>For PI / PnR project teams</a:t>
            </a:r>
          </a:p>
        </p:txBody>
      </p:sp>
    </p:spTree>
    <p:extLst>
      <p:ext uri="{BB962C8B-B14F-4D97-AF65-F5344CB8AC3E}">
        <p14:creationId xmlns:p14="http://schemas.microsoft.com/office/powerpoint/2010/main" val="1209584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AF1640-335B-457C-982D-3DC47451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DFDD5-7001-4D02-A301-4AB22429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01 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AA997-196F-4A72-A33F-D5EB8099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Why we need this SOP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F3E0C-235F-4CDE-83B6-79B0C700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E2927-D049-4D6D-AA9C-8907F54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8D908-DF8B-4727-9DE9-C410B10B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083"/>
                </a:solidFill>
              </a:defRPr>
            </a:pPr>
            <a:r>
              <a:rPr sz="1500" b="0">
                <a:solidFill>
                  <a:srgbClr val="5E7083"/>
                </a:solidFill>
              </a:rPr>
              <a:t>To keep project information clear, execution controlled, and communication fully closed.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CCFAA-FA45-44BE-8F82-E63663E2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197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32ABE-72FE-4B71-87EF-949E9183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A2469-687C-44CD-BB13-05B209FA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383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Assumption → 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42D0C-33D4-463D-BDA7-5E12D813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81275"/>
            <a:ext cx="4791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83"/>
                </a:solidFill>
              </a:defRPr>
            </a:pPr>
            <a:r>
              <a:rPr sz="1125" b="0">
                <a:solidFill>
                  <a:srgbClr val="5E7083"/>
                </a:solidFill>
              </a:rPr>
              <a:t>Unverified information is reported as a conclusion.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3DF86-4EBA-4B53-80BF-6E321370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52197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ABBD1-E4E2-4925-BD00-1D5CCB7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C697C-96CF-478B-BAE6-EA302558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383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Trial → Official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4BCE2-3737-46E0-9FD8-9112923C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81275"/>
            <a:ext cx="4791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83"/>
                </a:solidFill>
              </a:defRPr>
            </a:pPr>
            <a:r>
              <a:rPr sz="1125" b="0">
                <a:solidFill>
                  <a:srgbClr val="5E7083"/>
                </a:solidFill>
              </a:rPr>
              <a:t>A trial result is misunderstood as the project baseline.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F07CF-D8F9-4D73-A2A1-2E08072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52197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7DA13-8695-47E1-BEBC-F6FC8F21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ACB88-4FB8-448A-BD88-3C60616A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623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Review Skipped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61886-87D7-4B55-98F4-C792D627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05275"/>
            <a:ext cx="4791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83"/>
                </a:solidFill>
              </a:defRPr>
            </a:pPr>
            <a:r>
              <a:rPr sz="1125" b="0">
                <a:solidFill>
                  <a:srgbClr val="5E7083"/>
                </a:solidFill>
              </a:rPr>
              <a:t>Critical output is shared without required verification.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31C57-50FC-43F5-9556-D8887B2B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19500"/>
            <a:ext cx="52197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2FA77-DA21-44EE-97F9-183297E9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19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9B165-1E95-4C7A-88C9-0BDF0000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Open Communication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1B792-BB82-47C1-82BE-B345DEA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05275"/>
            <a:ext cx="4791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83"/>
                </a:solidFill>
              </a:defRPr>
            </a:pPr>
            <a:r>
              <a:rPr sz="1125" b="0">
                <a:solidFill>
                  <a:srgbClr val="5E7083"/>
                </a:solidFill>
              </a:rPr>
              <a:t>Action is completed, but confirmation is still missing.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2AA93-10EB-43B5-AA85-EFAD44D5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363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A9C9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06390-69F5-4FAB-A4C2-FC9887C2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911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Clear information  •  Correct version  •  Closed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796122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2387E-7755-490E-9745-56B7F336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EF560-EAA0-4DCB-BF3D-F04C609C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02  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496CF-ABBB-443E-A448-3A6510C7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SOP process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13D61-AA4A-4FA5-9223-32F2687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E9E84-96DA-4FE8-9247-FAA8B18E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6F191-BAD3-47D4-89D5-F0113F24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83"/>
                </a:solidFill>
              </a:defRPr>
            </a:pPr>
            <a:r>
              <a:rPr sz="1425" b="0">
                <a:solidFill>
                  <a:srgbClr val="5E7083"/>
                </a:solidFill>
              </a:rPr>
              <a:t>One simple control loop from project alignment to confirmed closure.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F3E79-BA31-4DE8-BD2E-912AC0DD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62913-C79E-49FD-A899-261683CE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43125"/>
            <a:ext cx="523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5D48B-9525-4017-8D5D-096E901F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43125"/>
            <a:ext cx="390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B3686-A628-4E9A-B4AB-515E3AA7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90800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ALIGN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CCAAB-7884-4992-A5EA-07FA38DC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Scope • target • 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C9134-7273-4FA9-9BD5-B03F2DAE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781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E7083"/>
                </a:solidFill>
              </a:defRPr>
            </a:pPr>
            <a:r>
              <a:rPr sz="2025" b="1">
                <a:solidFill>
                  <a:srgbClr val="5E7083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5D97B-2E3C-4B46-8A9D-1E8287C2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33362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C5E72-3120-4EC4-BEC9-1ACCF25F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43125"/>
            <a:ext cx="523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6B1BA-FC8F-4805-982A-EE15089E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43125"/>
            <a:ext cx="390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C07FF-0C3A-4CB1-9ECA-BFEE5876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90800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B7A41-AAFB-4EC3-A895-F034CFB6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480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Version • issue • 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6B915-EFF7-475C-A694-CDA0D318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E7083"/>
                </a:solidFill>
              </a:defRPr>
            </a:pPr>
            <a:r>
              <a:rPr sz="2025" b="1">
                <a:solidFill>
                  <a:srgbClr val="5E7083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F8244-96BB-4E65-957C-3C41AB94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9C8CD-0BEA-48C9-AD5B-1FD40BA6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143125"/>
            <a:ext cx="523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3B87A-817F-4F4C-A94F-B14F2CC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43125"/>
            <a:ext cx="390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94901-A47D-445F-A375-E0B08B4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90800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VERIFY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1B051-5104-492F-86BB-7CA1AFF9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480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Evidence • peer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A255E-ABA3-4681-8924-B4D58325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81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E7083"/>
                </a:solidFill>
              </a:defRPr>
            </a:pPr>
            <a:r>
              <a:rPr sz="2025" b="1">
                <a:solidFill>
                  <a:srgbClr val="5E7083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890E8-02AA-4777-AC49-993F3D93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33362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D09B9E-D8E0-4C8A-A226-E8D75FB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523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B1D00D-A3E9-4ED9-A510-30C7DE80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390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D26BD-74E6-4180-B2B9-841F4B49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62914-8A94-4314-A30D-8522B63B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480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Correct status • approval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265EB7-1450-4C52-817F-64DC08ED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E7083"/>
                </a:solidFill>
              </a:defRPr>
            </a:pPr>
            <a:r>
              <a:rPr sz="2025" b="1">
                <a:solidFill>
                  <a:srgbClr val="5E7083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6C4334-366E-42CD-821C-914ED25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9667E5-F25A-4AE5-A63B-A500A83F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43125"/>
            <a:ext cx="523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77C6A1-C15F-4FE9-8BEE-8D945462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43125"/>
            <a:ext cx="390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D57D01-900B-4BAD-B5E7-80393EB7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590800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CLOSE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D15CEA-6F73-487D-9202-0C7B8013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Delivery • acceptance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758C2E-7EE6-4B0F-ABE2-164B40E1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9906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8BDD33-BFA2-4397-A9CA-1FFE3535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VERIFY FAILED?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E59EE7-2D63-43FA-A740-7A3103D2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Return to execution, update the action, and verify again before reporting.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48846D-F716-45B0-B10E-3CF0F510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Align  →  Execute  →  Verify  →  Report  →  Close</a:t>
            </a:r>
          </a:p>
        </p:txBody>
      </p:sp>
    </p:spTree>
    <p:extLst>
      <p:ext uri="{BB962C8B-B14F-4D97-AF65-F5344CB8AC3E}">
        <p14:creationId xmlns:p14="http://schemas.microsoft.com/office/powerpoint/2010/main" val="1447476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E9C7BC-7DE6-4253-A03B-C9D37503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B426A-BECB-4D1D-B837-73DD1456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03  WHO IS INVOLVED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62AD3-5551-4ABC-8E53-7991C91B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Participants and responsibilities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C1B4C-438B-4313-89BA-E28B9D23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A9B42-E35B-44B3-9E46-1E681F7A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696A3-83D4-4E6C-93E5-A707C0CD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83"/>
                </a:solidFill>
              </a:defRPr>
            </a:pPr>
            <a:r>
              <a:rPr sz="1425" b="0">
                <a:solidFill>
                  <a:srgbClr val="5E7083"/>
                </a:solidFill>
              </a:rPr>
              <a:t>Clear ownership at every control 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2D654-D57B-4B27-B241-E6E87A66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19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13746-F3B3-456B-BFA6-A099C669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76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8DDC8-5643-42FC-AD0F-78FD5668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86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40BDB-80AD-4C1F-A152-5A557CC0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57425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7C93B-1770-4F8A-8EEF-41680F72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Execute and prepare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061B2-0BD5-497C-97F0-2520271E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95600"/>
            <a:ext cx="404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Own task execution and status updates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4CB3D-82C6-43F5-B1E8-EA206E10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5219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1A76E-D6C7-4C09-A2CB-49B23263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476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D886C-6DCD-4D42-B1D1-2271DAE8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86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C61A4-D023-47A9-B269-242C8096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57425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PEER / REVIEWER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70EEA-705A-40EB-8BE1-E97A3A6C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</a:defRPr>
            </a:pPr>
            <a:r>
              <a:rPr sz="1200" b="1">
                <a:solidFill>
                  <a:srgbClr val="14B8A6"/>
                </a:solidFill>
              </a:rPr>
              <a:t>Verify critical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C5BBA-E800-4218-B95E-36940524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95600"/>
            <a:ext cx="404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Check evidence before shared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51D22-616F-420A-A616-A2288B23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BF154-4C7F-4087-83C9-D9828849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476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3E9F8-5A0F-45EA-BE8C-3F74F458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052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294B3-243F-4630-A56B-0DA00579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76675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LEAD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FD552-A44C-4138-AF03-920502B3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00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Control direction and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D68CD8-504D-43C0-810C-284D64BF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404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Approve official status and delivery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E2474-138A-4699-A9E6-300D213C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219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DD81B-2258-444E-92E2-07DC67DA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76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3FE8A-841E-4E26-A2B7-DA41F7F2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052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CC51D0-19A0-49E9-843C-5FFF71D1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76675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STAKEHOLDER / 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49D88-0224-48C4-8712-62024DA6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</a:defRPr>
            </a:pPr>
            <a:r>
              <a:rPr sz="1200" b="1">
                <a:solidFill>
                  <a:srgbClr val="16A34A"/>
                </a:solidFill>
              </a:rPr>
              <a:t>Review and accept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2A4109-5F17-40D2-8FC7-BB1ACF44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14850"/>
            <a:ext cx="404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Confirm decisions and delivery closure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AB4DAD-5779-4084-A789-4BA67AC2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A9C9F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D7A439-4286-4A6B-9B69-84994925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7212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The Lead controls the gates—not every execution step.</a:t>
            </a:r>
          </a:p>
        </p:txBody>
      </p:sp>
    </p:spTree>
    <p:extLst>
      <p:ext uri="{BB962C8B-B14F-4D97-AF65-F5344CB8AC3E}">
        <p14:creationId xmlns:p14="http://schemas.microsoft.com/office/powerpoint/2010/main" val="2118272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B0ECB1-E01F-431C-BD45-828E9772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BAD6C-344A-4701-87DC-6A211310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04  WHAT WE ACHIEVE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BAAED-1BA1-4345-9B62-EFF0FF07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Expected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2D646-26AF-4062-A434-4C8761CB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BB757-3C44-47AA-8DBB-6C3AB00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B3E5B-4645-429B-BA6E-9FD27400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83"/>
                </a:solidFill>
              </a:defRPr>
            </a:pPr>
            <a:r>
              <a:rPr sz="1425" b="0">
                <a:solidFill>
                  <a:srgbClr val="5E7083"/>
                </a:solidFill>
              </a:rPr>
              <a:t>A common SOP framework that keeps the project state easy to understand and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D4523-7883-4A2F-9423-90CDA540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197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97D46-416D-4EF8-A5F8-6B917CA6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7A311-827A-416F-8F9C-80BE5639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383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CLEAR 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72AD8-39C8-4E95-817A-B9D5DD59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81275"/>
            <a:ext cx="4791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83"/>
                </a:solidFill>
              </a:defRPr>
            </a:pPr>
            <a:r>
              <a:rPr sz="1125" b="0">
                <a:solidFill>
                  <a:srgbClr val="5E7083"/>
                </a:solidFill>
              </a:rPr>
              <a:t>Scope, target and ownership are aligned.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D913D-4704-470F-A07F-86EDF038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52197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C4060-929B-4E89-B16B-C3006F10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73DB2-9320-4845-A837-77CCEAA1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383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CONTROLLED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971FC-2332-4BE7-8F73-0108A0B9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81275"/>
            <a:ext cx="4791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83"/>
                </a:solidFill>
              </a:defRPr>
            </a:pPr>
            <a:r>
              <a:rPr sz="1125" b="0">
                <a:solidFill>
                  <a:srgbClr val="5E7083"/>
                </a:solidFill>
              </a:rPr>
              <a:t>The official project version is identifiable.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48041-2323-4712-8706-D938A92B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2197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EC2AD-0877-40C5-BFB4-76DA1F29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1B4D3-B681-4181-8E4F-932D4CD4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14750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RELIABLE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6E85B-B254-4DD8-8A7E-CF2EF0D7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57650"/>
            <a:ext cx="4791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83"/>
                </a:solidFill>
              </a:defRPr>
            </a:pPr>
            <a:r>
              <a:rPr sz="1125" b="0">
                <a:solidFill>
                  <a:srgbClr val="5E7083"/>
                </a:solidFill>
              </a:rPr>
              <a:t>Reported information is classified and verified.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0EB51D-FC59-4DBD-8B83-C0647DDD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71875"/>
            <a:ext cx="52197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DF5F5-35D8-4ED3-8E0E-FD431867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7187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5C1C4-8661-4A1B-9B31-7D6B36D6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14750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CLOSED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20D45-84FE-4F8E-B78E-A5AA4D39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57650"/>
            <a:ext cx="4791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83"/>
                </a:solidFill>
              </a:defRPr>
            </a:pPr>
            <a:r>
              <a:rPr sz="1125" b="0">
                <a:solidFill>
                  <a:srgbClr val="5E7083"/>
                </a:solidFill>
              </a:rPr>
              <a:t>Issues and deliveries have a confirmed disposition.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D5B50-D41B-4BCE-8E1D-00B90D56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82D5D2-1D5A-4B45-8A7A-331841F6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Clear state  •  Controlled baseline  •  Closed loop</a:t>
            </a:r>
          </a:p>
        </p:txBody>
      </p:sp>
    </p:spTree>
    <p:extLst>
      <p:ext uri="{BB962C8B-B14F-4D97-AF65-F5344CB8AC3E}">
        <p14:creationId xmlns:p14="http://schemas.microsoft.com/office/powerpoint/2010/main" val="925964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2026-07-15T13:36:25.0810000Z</dcterms:created>
  <dcterms:modified xsi:type="dcterms:W3CDTF">2026-07-15T13:36:25.0810000Z</dcterms:modified>
</coreProperties>
</file>