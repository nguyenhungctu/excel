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494b59f56644693" /><Relationship Type="http://schemas.openxmlformats.org/officeDocument/2006/relationships/extended-properties" Target="/docProps/app.xml" Id="R8fd5e16d329d43cd" /><Relationship Type="http://schemas.openxmlformats.org/officeDocument/2006/relationships/officeDocument" Target="/ppt/presentation.xml" Id="R3ce6f22234f94f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44e5c4667e4a4f"/>
  </p:sldMasterIdLst>
  <p:notesMasterIdLst>
    <p:notesMasterId xmlns:r="http://schemas.openxmlformats.org/officeDocument/2006/relationships" r:id="Rd943982178d74542"/>
  </p:notesMasterIdLst>
  <p:sldIdLst>
    <p:sldId xmlns:r="http://schemas.openxmlformats.org/officeDocument/2006/relationships" id="256" r:id="R86eaef9adcd24c32"/>
    <p:sldId xmlns:r="http://schemas.openxmlformats.org/officeDocument/2006/relationships" id="257" r:id="R7a11ecb9c8a84eab"/>
    <p:sldId xmlns:r="http://schemas.openxmlformats.org/officeDocument/2006/relationships" id="258" r:id="Rbe718b4c91624e76"/>
    <p:sldId xmlns:r="http://schemas.openxmlformats.org/officeDocument/2006/relationships" id="259" r:id="Rcbbcd0825b894f59"/>
    <p:sldId xmlns:r="http://schemas.openxmlformats.org/officeDocument/2006/relationships" id="260" r:id="R61265e7a300a4670"/>
    <p:sldId xmlns:r="http://schemas.openxmlformats.org/officeDocument/2006/relationships" id="261" r:id="Re1d32521472048e1"/>
    <p:sldId xmlns:r="http://schemas.openxmlformats.org/officeDocument/2006/relationships" id="262" r:id="R96ffb0604cd948eb"/>
    <p:sldId xmlns:r="http://schemas.openxmlformats.org/officeDocument/2006/relationships" id="263" r:id="Rc1b7494259884c0c"/>
    <p:sldId xmlns:r="http://schemas.openxmlformats.org/officeDocument/2006/relationships" id="264" r:id="R02f138737cda40f2"/>
    <p:sldId xmlns:r="http://schemas.openxmlformats.org/officeDocument/2006/relationships" id="265" r:id="R674b43f5a74a4b29"/>
    <p:sldId xmlns:r="http://schemas.openxmlformats.org/officeDocument/2006/relationships" id="266" r:id="R464e13739aba40e0"/>
    <p:sldId xmlns:r="http://schemas.openxmlformats.org/officeDocument/2006/relationships" id="267" r:id="R787e4c582e734641"/>
    <p:sldId xmlns:r="http://schemas.openxmlformats.org/officeDocument/2006/relationships" id="268" r:id="R8a3d7c4d3b604c5d"/>
    <p:sldId xmlns:r="http://schemas.openxmlformats.org/officeDocument/2006/relationships" id="269" r:id="R8cf7f22fc8af44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b65cfc3e264d1b" /><Relationship Type="http://schemas.openxmlformats.org/officeDocument/2006/relationships/slideMaster" Target="/ppt/slideMasters/slideMaster1.xml" Id="R6344e5c4667e4a4f" /><Relationship Type="http://schemas.openxmlformats.org/officeDocument/2006/relationships/notesMaster" Target="/ppt/notesMasters/notesMaster1.xml" Id="Rd943982178d74542" /><Relationship Type="http://schemas.openxmlformats.org/officeDocument/2006/relationships/presProps" Target="/ppt/presProps.xml" Id="R31c40971fa464f72" /><Relationship Type="http://schemas.openxmlformats.org/officeDocument/2006/relationships/tableStyles" Target="/ppt/tableStyles.xml" Id="R431ec9968537459e" /><Relationship Type="http://schemas.openxmlformats.org/officeDocument/2006/relationships/slide" Target="/ppt/slides/slide1.xml" Id="R86eaef9adcd24c32" /><Relationship Type="http://schemas.openxmlformats.org/officeDocument/2006/relationships/slide" Target="/ppt/slides/slide2.xml" Id="R7a11ecb9c8a84eab" /><Relationship Type="http://schemas.openxmlformats.org/officeDocument/2006/relationships/slide" Target="/ppt/slides/slide3.xml" Id="Rbe718b4c91624e76" /><Relationship Type="http://schemas.openxmlformats.org/officeDocument/2006/relationships/slide" Target="/ppt/slides/slide4.xml" Id="Rcbbcd0825b894f59" /><Relationship Type="http://schemas.openxmlformats.org/officeDocument/2006/relationships/slide" Target="/ppt/slides/slide5.xml" Id="R61265e7a300a4670" /><Relationship Type="http://schemas.openxmlformats.org/officeDocument/2006/relationships/slide" Target="/ppt/slides/slide6.xml" Id="Re1d32521472048e1" /><Relationship Type="http://schemas.openxmlformats.org/officeDocument/2006/relationships/slide" Target="/ppt/slides/slide7.xml" Id="R96ffb0604cd948eb" /><Relationship Type="http://schemas.openxmlformats.org/officeDocument/2006/relationships/slide" Target="/ppt/slides/slide8.xml" Id="Rc1b7494259884c0c" /><Relationship Type="http://schemas.openxmlformats.org/officeDocument/2006/relationships/slide" Target="/ppt/slides/slide9.xml" Id="R02f138737cda40f2" /><Relationship Type="http://schemas.openxmlformats.org/officeDocument/2006/relationships/slide" Target="/ppt/slides/slide10.xml" Id="R674b43f5a74a4b29" /><Relationship Type="http://schemas.openxmlformats.org/officeDocument/2006/relationships/slide" Target="/ppt/slides/slide11.xml" Id="R464e13739aba40e0" /><Relationship Type="http://schemas.openxmlformats.org/officeDocument/2006/relationships/slide" Target="/ppt/slides/slide12.xml" Id="R787e4c582e734641" /><Relationship Type="http://schemas.openxmlformats.org/officeDocument/2006/relationships/slide" Target="/ppt/slides/slide13.xml" Id="R8a3d7c4d3b604c5d" /><Relationship Type="http://schemas.openxmlformats.org/officeDocument/2006/relationships/slide" Target="/ppt/slides/slide14.xml" Id="R8cf7f22fc8af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478a7adda2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b2d6b30c3f4269" /><Relationship Type="http://schemas.openxmlformats.org/officeDocument/2006/relationships/notesMaster" Target="/ppt/notesMasters/notesMaster1.xml" Id="R6b890546a33942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4938b7fd82407a" /><Relationship Type="http://schemas.openxmlformats.org/officeDocument/2006/relationships/notesMaster" Target="/ppt/notesMasters/notesMaster1.xml" Id="R5b94870444be48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8e1785640d4547" /><Relationship Type="http://schemas.openxmlformats.org/officeDocument/2006/relationships/notesMaster" Target="/ppt/notesMasters/notesMaster1.xml" Id="R20c7598a4a914c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d39da691ccf4c57" /><Relationship Type="http://schemas.openxmlformats.org/officeDocument/2006/relationships/notesMaster" Target="/ppt/notesMasters/notesMaster1.xml" Id="Reb8929faa65c494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8db463245f4cd0" /><Relationship Type="http://schemas.openxmlformats.org/officeDocument/2006/relationships/notesMaster" Target="/ppt/notesMasters/notesMaster1.xml" Id="R660eb685980e41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d314dfac284dcf" /><Relationship Type="http://schemas.openxmlformats.org/officeDocument/2006/relationships/notesMaster" Target="/ppt/notesMasters/notesMaster1.xml" Id="R1f81e8b06615431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41463733e2f4188" /><Relationship Type="http://schemas.openxmlformats.org/officeDocument/2006/relationships/notesMaster" Target="/ppt/notesMasters/notesMaster1.xml" Id="Rc8fc6d6322e1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49bf685b4464468" /><Relationship Type="http://schemas.openxmlformats.org/officeDocument/2006/relationships/notesMaster" Target="/ppt/notesMasters/notesMaster1.xml" Id="R95bca6810ea544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ae7f30483b4325" /><Relationship Type="http://schemas.openxmlformats.org/officeDocument/2006/relationships/notesMaster" Target="/ppt/notesMasters/notesMaster1.xml" Id="Rf08a26fba1fc48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2bdf2cf45aa427f" /><Relationship Type="http://schemas.openxmlformats.org/officeDocument/2006/relationships/notesMaster" Target="/ppt/notesMasters/notesMaster1.xml" Id="R221d186972cd49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35c31449ca4285" /><Relationship Type="http://schemas.openxmlformats.org/officeDocument/2006/relationships/notesMaster" Target="/ppt/notesMasters/notesMaster1.xml" Id="R61a973ec317a4e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2c05f7dfe244fd" /><Relationship Type="http://schemas.openxmlformats.org/officeDocument/2006/relationships/notesMaster" Target="/ppt/notesMasters/notesMaster1.xml" Id="R4d2cc2bece3c49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b513b962b94954" /><Relationship Type="http://schemas.openxmlformats.org/officeDocument/2006/relationships/notesMaster" Target="/ppt/notesMasters/notesMaster1.xml" Id="Rd22b2e0a76e14fd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18470ca68541ad" /><Relationship Type="http://schemas.openxmlformats.org/officeDocument/2006/relationships/notesMaster" Target="/ppt/notesMasters/notesMaster1.xml" Id="Ra9e8b7fc2419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28bdb5ec246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def0678a9640fe" /><Relationship Type="http://schemas.openxmlformats.org/officeDocument/2006/relationships/slideLayout" Target="/ppt/slideLayouts/slideLayout1.xml" Id="R3145ea0a2bea42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45ea0a2bea42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212c6a9c46d6" /><Relationship Type="http://schemas.openxmlformats.org/officeDocument/2006/relationships/notesSlide" Target="/ppt/notesSlides/notesSlide1.xml" Id="Rc19f9a29162946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4d66dd0094067" /><Relationship Type="http://schemas.openxmlformats.org/officeDocument/2006/relationships/notesSlide" Target="/ppt/notesSlides/notesSlide2.xml" Id="R4724d5e7ecb3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1de3843de74f64" /><Relationship Type="http://schemas.openxmlformats.org/officeDocument/2006/relationships/notesSlide" Target="/ppt/notesSlides/notesSlide3.xml" Id="R14d9fc9f0cbd43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beefc34a74c3d" /><Relationship Type="http://schemas.openxmlformats.org/officeDocument/2006/relationships/notesSlide" Target="/ppt/notesSlides/notesSlide4.xml" Id="R41b554dd5aa749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da6fef0b54418" /><Relationship Type="http://schemas.openxmlformats.org/officeDocument/2006/relationships/notesSlide" Target="/ppt/notesSlides/notesSlide5.xml" Id="Rbf0c2cd3511449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162da91e0d4f20" /><Relationship Type="http://schemas.openxmlformats.org/officeDocument/2006/relationships/notesSlide" Target="/ppt/notesSlides/notesSlide6.xml" Id="Rb45377032c4a40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b2731ea924953" /><Relationship Type="http://schemas.openxmlformats.org/officeDocument/2006/relationships/notesSlide" Target="/ppt/notesSlides/notesSlide7.xml" Id="R3a59b55bf8ce47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68eb016e04a3e" /><Relationship Type="http://schemas.openxmlformats.org/officeDocument/2006/relationships/notesSlide" Target="/ppt/notesSlides/notesSlide8.xml" Id="Rdd08cf0812924fc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3002240c84cc8" /><Relationship Type="http://schemas.openxmlformats.org/officeDocument/2006/relationships/notesSlide" Target="/ppt/notesSlides/notesSlide9.xml" Id="R971a7cfbb7c645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b294e9769f4d5d" /><Relationship Type="http://schemas.openxmlformats.org/officeDocument/2006/relationships/notesSlide" Target="/ppt/notesSlides/notesSlide10.xml" Id="R8c0c38110ae74db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1cc516d274e5c" /><Relationship Type="http://schemas.openxmlformats.org/officeDocument/2006/relationships/notesSlide" Target="/ppt/notesSlides/notesSlide11.xml" Id="Re907cb3d016146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ebb3fef894db0" /><Relationship Type="http://schemas.openxmlformats.org/officeDocument/2006/relationships/notesSlide" Target="/ppt/notesSlides/notesSlide12.xml" Id="R34e1cdbdefa543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06d6744bd4696" /><Relationship Type="http://schemas.openxmlformats.org/officeDocument/2006/relationships/notesSlide" Target="/ppt/notesSlides/notesSlide13.xml" Id="R3adf4cb0d1e74d5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e549019f649f0" /><Relationship Type="http://schemas.openxmlformats.org/officeDocument/2006/relationships/notesSlide" Target="/ppt/notesSlides/notesSlide14.xml" Id="R8785c0bfdda5467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9E4D1-AD5C-41D1-8C9B-9BA0EE57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F7D1EE-0CEA-4370-965C-6138B4B9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"/>
            <a:ext cx="419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C7FF"/>
                </a:solidFill>
              </a:defRPr>
            </a:pPr>
            <a:r>
              <a:rPr sz="975" b="1">
                <a:solidFill>
                  <a:srgbClr val="7FC7FF"/>
                </a:solidFill>
              </a:rPr>
              <a:t>PI PROJECT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940AD-DE73-4B2F-8AE0-6BAE00CD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6191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Project Execution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&amp; Control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8C45E-6969-47C4-A032-2A35890F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7D4E2"/>
                </a:solidFill>
              </a:defRPr>
            </a:pPr>
            <a:r>
              <a:rPr sz="1575" b="0">
                <a:solidFill>
                  <a:srgbClr val="C7D4E2"/>
                </a:solidFill>
              </a:rPr>
              <a:t>A practical operating framework for direction, execution, reporting and closure.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7266D0-A9FA-42EF-AC8B-BCCDA3D9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4B3509-364B-44FB-B3B5-4C54BC57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  Govern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605A1-2FE1-4EA5-9E3F-73222424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667250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990136-DAA5-4601-AAEA-C2B37758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  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70B63-D637-468E-847F-B09A3421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667250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0A0A7-EA0E-418D-9F9A-411DA39F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  Communicate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6A215D-FE3D-47BE-B0C7-64E191DF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4667250"/>
            <a:ext cx="17145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83B59"/>
          </a:solidFill>
          <a:ln xmlns:a="http://schemas.openxmlformats.org/drawingml/2006/main" w="9525">
            <a:solidFill>
              <a:srgbClr val="183B5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A08C25-5EAC-404A-8607-7F80BAFE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6725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  Close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9E994E-F7F3-4F37-AA54-37AE4087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1150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9FB2C4"/>
                </a:solidFill>
              </a:defRPr>
            </a:pPr>
            <a:r>
              <a:rPr sz="1050" b="1">
                <a:solidFill>
                  <a:srgbClr val="9FB2C4"/>
                </a:solidFill>
              </a:rPr>
              <a:t>For PI / PnR project teams</a:t>
            </a:r>
          </a:p>
        </p:txBody>
      </p:sp>
    </p:spTree>
    <p:extLst>
      <p:ext uri="{BB962C8B-B14F-4D97-AF65-F5344CB8AC3E}">
        <p14:creationId xmlns:p14="http://schemas.microsoft.com/office/powerpoint/2010/main" val="15241804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B61683-B616-4F12-976A-D2B90C1F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95B65-D275-4215-8A2F-B4CF875D1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01  BACKGROUND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E4C75-64DD-4CBB-A256-FD37741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Why control is needed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50EC2-F2A0-4C1E-9782-F5152BD6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4EA7F0-CE0D-4831-9245-42ED7516F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541F5-979B-4765-9BE5-3740D993A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83"/>
                </a:solidFill>
              </a:defRPr>
            </a:pPr>
            <a:r>
              <a:rPr sz="1425" b="0">
                <a:solidFill>
                  <a:srgbClr val="5E7083"/>
                </a:solidFill>
              </a:rPr>
              <a:t>The recurring failures are caused by unclear project state and weak control gates.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4D58E-34EE-4AA1-BD6E-1C5B8836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BBF65-F187-46F9-8827-C19F63C0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DE8357-4D60-43B5-B642-EA386F6F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62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Assumption reported as 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5B4ED-1CC4-4C98-BE77-49ACF633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95550"/>
            <a:ext cx="4819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Finding has no confidence label or evidence.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3204B5-84EB-4016-ACD4-BCB9BE44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B88EB8-D42D-4632-BF3D-2DF96806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4787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4220A8-B9EE-4F5C-B4DB-D1BD371E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6217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Trial mistaken as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E0B3D-9DE2-4B37-8875-932AF0D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95550"/>
            <a:ext cx="4819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Version-of-record is not explicit.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E47FD-1EDF-490C-9699-C161F682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099D7-85F6-4A2F-B923-E01B01BD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917897-DCB9-440F-BF9F-F1CA15F9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Review skipped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E9FF72-92D6-4605-A576-E5EE9E43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114800"/>
            <a:ext cx="4819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Output is shared before required verification.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08CC0-6C01-4087-AEF1-15D3BECD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67125"/>
            <a:ext cx="52197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8DB556-8649-4E36-97F0-65DD6294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667125"/>
            <a:ext cx="6667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226ED-2F3C-4819-864E-16CB3912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81425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Communication left open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ED661-579E-4946-A507-85FEFCAA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114800"/>
            <a:ext cx="4819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Action is done but decision or acceptance is missing.</a:t>
            </a:r>
          </a:p>
        </p:txBody>
      </p:sp>
    </p:spTree>
    <p:extLst>
      <p:ext uri="{BB962C8B-B14F-4D97-AF65-F5344CB8AC3E}">
        <p14:creationId xmlns:p14="http://schemas.microsoft.com/office/powerpoint/2010/main" val="1759561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92CECB-9AB8-4A8A-B6F7-2DB3D2D8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5CF48-4404-4022-9742-5E4192D8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02  PRINCIPLES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74AE5-0BCD-41AA-B53F-5A55FAEE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Five operating principles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E5079A-F404-4FEC-8F13-FA25C9A6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23339-1559-4AE9-A189-0DE6E122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DBB2E-6FF8-47FA-8E5F-DB3F870B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76375"/>
            <a:ext cx="495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603A1D-333B-4D16-AC6F-CFADE60A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BA56B3-618D-4E50-9B62-173F8B6B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476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Label the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681702-B344-4665-AA52-6F930258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7637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Fact, preliminary finding, assumption, risk or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752DE-5949-4CB9-844D-C0BB56E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495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AD92D-4F20-43AB-A626-9AD4BB2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67BE1D-AC03-4173-BBD4-10DAA255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Control the baseline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DC36B-E45E-4237-A9DD-BB11332D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81250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One official baseline per milestone and scope.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EBD1FE-8B5D-46F4-BD0F-54D5F29F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86125"/>
            <a:ext cx="495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09DB3C-B375-4019-A51B-95A8116B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099FD9-ECB0-4EB0-9E5B-F878096E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Review by risk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779771-5D8A-4E7C-A36D-DC6D781C4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8612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Review intensity follows communication and delivery risk.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D1F2F-2330-402F-8C79-E7ACC83BB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495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F73287-99AE-4871-BEDC-3165140C8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C4F16-C381-4EE9-B1EF-24DC44ED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Close the loop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7A4090-D94C-41B1-907B-D302E4F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91000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Every issue, decision and delivery has a closure condition.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97595-5E61-4D32-BFDD-2E6E38C5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4953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C520B2-DC65-4C8B-9A67-8FD5D967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31721-DA1A-4BFA-BFDB-C201FD25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958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Keep one source of truth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32C8E-B394-40D6-845A-B1DD2D27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095875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Shared records—not personal notes—define project state.</a:t>
            </a:r>
          </a:p>
        </p:txBody>
      </p:sp>
    </p:spTree>
    <p:extLst>
      <p:ext uri="{BB962C8B-B14F-4D97-AF65-F5344CB8AC3E}">
        <p14:creationId xmlns:p14="http://schemas.microsoft.com/office/powerpoint/2010/main" val="1256093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016EEF-A461-4DC8-A761-23DD7503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FC239-0953-408C-8274-206B34FCF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03 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27DE9-B5EE-4FF4-86A9-53BD7612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Three-layer control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02F92-2FD1-4B77-BB18-658BA542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E1E649-B83F-4619-B192-D72D4D8D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B398A2-11E2-4FFC-AC0C-98F1E5850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1038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14CE42-EFE4-47A3-AA20-47888332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52625"/>
            <a:ext cx="419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0D056-E09E-4434-94D4-B653DA52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9526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BA889F-0B09-49E0-AEC4-E18B672DE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7907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PROJECT GOVERNANCE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663697-2E4A-4A45-84BE-AAE36D7C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1145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Direction • ownership • milestone • decision rights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D31A9-2299-4C5C-BA4A-609D86FA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05125"/>
            <a:ext cx="1038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C63CCC-3D2C-422B-A901-C57870DC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19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4A3105-02F8-42D4-AC0A-C0DCB7B2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19087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52287-1FE7-403D-AED1-6F44632F5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02895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EXECUTION 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DA0644-BD9C-4CD5-A649-62A6DDCA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352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Version • issue/risk • change • technical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B2605-CB41-4521-984C-86C9B9CB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43375"/>
            <a:ext cx="1038225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885CAC-74B0-491C-B277-8A0D0B3A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29125"/>
            <a:ext cx="41910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0D10F0-9411-4926-8D7C-B867F10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4291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F34AA5-EE34-492B-88A1-5F377500D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67200"/>
            <a:ext cx="3667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COMMUNICATION &amp; CLOSURE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0127B-E14A-462C-9D44-0E4F99B9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5910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Reportable status • delivery • acceptance • archive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D5D584-1163-4602-9677-5120170A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These controls run together throughout the project—they are not sequential phases.</a:t>
            </a:r>
          </a:p>
        </p:txBody>
      </p:sp>
    </p:spTree>
    <p:extLst>
      <p:ext uri="{BB962C8B-B14F-4D97-AF65-F5344CB8AC3E}">
        <p14:creationId xmlns:p14="http://schemas.microsoft.com/office/powerpoint/2010/main" val="76792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FB7A83-137F-4ADB-854B-AF147C62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992C9-0F8F-4BD8-BCB9-107B9244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04 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F40092-D879-4E59-90E1-6B536980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Project governance: define and realign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AAA2A-27D7-45B5-9598-41A5D5DA3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2C8603-6113-4416-AB8E-92904A81B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35F51-3962-41F3-B3A9-C4D588EB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295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89B51-D3C9-4567-987E-02850A66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MANDATORY DEFINITION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98EA55-80A0-4ADC-94CC-7383FD6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571625"/>
            <a:ext cx="3524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95F7C-1A7B-429B-B9A4-04976275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571625"/>
            <a:ext cx="3295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REQUIRED 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731D7-537D-435F-A466-0BE5EBFF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571625"/>
            <a:ext cx="4152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B3449A-0AA3-4557-8C97-528A06C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71625"/>
            <a:ext cx="3924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CONTROL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4E3F63-968E-4E1F-8550-0B0AEFB8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0725"/>
            <a:ext cx="3295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507E8-DA0F-4859-A029-8F641DB7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Scope and committed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B1C83-4725-4179-BB7D-CEC9E71D0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90725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80F1C3-AE04-45D4-8B6F-08AFB9E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3835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Project brief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DD1B59-ADEA-4600-B46E-767B4AC2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90725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11593-9472-42FB-A2D9-8B2CFFDB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Stakeholder + Lead confirm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B2FC7-8B82-4D2B-A433-D7105CBF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76525"/>
            <a:ext cx="3295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DB938-3AD9-4D9A-9EEF-C75A0CC9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Milestone and priority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2452E-312C-4E60-ACCC-CC8CFC1A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76525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2B1F85-68E6-4209-8307-142E9431A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72415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Milestone plan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624F8D-5F3A-4B58-A488-A5EFB73C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76525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0375CA-F9F0-4380-B3E2-C8147EB4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241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Commitment is feasible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614D5D-7291-422A-8296-AF53E4A79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3295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CD692D-9147-478D-AEAF-7942882B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Owner and reviewer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0A3CCA-F7CB-438E-B3D0-E078A8E4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62325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72AD90-4073-4282-9B4F-F36F0AE69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0995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Responsibility matrix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ADF5E-F513-4380-8CD3-6F7F29B7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362325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662D83-CD8D-4130-A7A7-DFD0A2AB1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099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No unowned deliverable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78B85-1AF7-43DF-8FB1-C6280C53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295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2F9F8E-2037-4531-A84E-F59CA71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Acceptance criteria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FB96F9-413C-4CFD-9D76-15C2527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48125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4BD9E1-7672-41D2-84B3-839425B91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09575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Exit checklist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CDE06-5F9D-41FF-A113-E41CED97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48125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8205C5-613A-4EA4-803B-B640A5A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957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Success can be verified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1059F5-0B9F-44FA-8558-EA9675F7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33925"/>
            <a:ext cx="3295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FB071B-19C3-44B3-A26D-1F8229E6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306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Escalation criteria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7916211-D7C3-4974-891C-877C833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733925"/>
            <a:ext cx="3524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87C868-EF53-4723-A82C-AA972985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81550"/>
            <a:ext cx="3295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Risk rule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2F1BB4-8B10-45F7-9375-CB862C1B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733925"/>
            <a:ext cx="41529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77AC4-138A-4E25-AE7C-F1EC947D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81550"/>
            <a:ext cx="3924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Trigger and receiver are known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F80606-26E9-491E-AF06-B85614C2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388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EF4444"/>
                </a:solidFill>
              </a:defRPr>
            </a:pPr>
            <a:r>
              <a:rPr sz="1275" b="1">
                <a:solidFill>
                  <a:srgbClr val="EF4444"/>
                </a:solidFill>
              </a:rPr>
              <a:t>Change rule: any change affecting scope, milestone, baseline or acceptance criteria must be recorded and re-aligned.</a:t>
            </a:r>
          </a:p>
        </p:txBody>
      </p:sp>
    </p:spTree>
    <p:extLst>
      <p:ext uri="{BB962C8B-B14F-4D97-AF65-F5344CB8AC3E}">
        <p14:creationId xmlns:p14="http://schemas.microsoft.com/office/powerpoint/2010/main" val="4888608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099AC-037D-485F-BBBD-DF54F0D8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5F341-26DF-45EC-B9C0-15068D9F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05  VERSION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12A7C-3D75-443D-95CF-02774D86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Execution version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0FFD0-6CFA-4EFD-858D-DB2B4092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10E37C-C3E7-4147-B81D-7F845E91A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8523B-52CB-45BA-BAE5-10D7CFAAE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2533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150348-995E-4B07-B7D0-1A2D7305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3600F4-70BB-452B-B05A-6F8EAA9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19250"/>
            <a:ext cx="5905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41D4E9-A6A6-4140-A29C-C3CC6BB9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619250"/>
            <a:ext cx="567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PURPOSE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28C96B-0D67-45AE-8FA6-F3F86A6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19250"/>
            <a:ext cx="25336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622E12-5884-4A32-8737-8B33F047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2305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REGISTER?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691A7D-9B70-4D80-976B-2A8A32AE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DB8F35-42BE-424F-A0DF-CD8A041D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859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LOCAL TRIAL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D53D48-9D44-4808-986E-3F42FF73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590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2788D-DB03-4E13-955B-DA35F49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85975"/>
            <a:ext cx="567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Personal debug; not shared as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DE4BD3-A6F3-4145-86F9-430F1FAC8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3835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AE125F-FE97-4EE2-96BD-8F509C8E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859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FDBD3F-F15A-451B-AB76-D85DA9B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8DA0F6-0A9B-4B28-B670-CCD69150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6702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SHARED TRIAL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C7598-535E-42EB-9519-8A466C7C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19400"/>
            <a:ext cx="590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0A23BA-AF71-4C1E-BEBF-5D534EAD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67025"/>
            <a:ext cx="567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Used for comparison or technical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CCE80-B8B5-4877-AF36-6D2B2688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1940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CA25F-3476-43E4-83BC-6BBACB67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6702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Yes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9DF7A7-783B-4F39-A4AB-82EC8EE2B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1F7B45-70E4-4763-8D01-E67EEAB3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OFFICIAL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DC54BB-2145-42EE-BED2-24B017AD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0450"/>
            <a:ext cx="5905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DC24F-6AC9-4D94-BB44-5F3F9D35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648075"/>
            <a:ext cx="5676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Version-of-record for a milestone/scope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C5CBC2-4F3F-4C67-A332-CF07F697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25336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235711-1391-4038-BE01-84C3E7F3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48075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Mandatory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5DA36-C560-4B57-BCA9-065A61DFB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0972800" cy="118110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B165B8-6236-4BE8-8907-D06F38B6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19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FF"/>
                </a:solidFill>
              </a:defRPr>
            </a:pPr>
            <a:r>
              <a:rPr sz="975" b="1">
                <a:solidFill>
                  <a:srgbClr val="1677FF"/>
                </a:solidFill>
              </a:rPr>
              <a:t>PROMOTION TO OFFICIAL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00C440-16D3-403E-B7A4-9985813B9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720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Run complete  •  required checks passed  •  QoR reviewed  •  limitations recorded  •  reviewer verified  •  Lead approved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139729-C965-4F78-A0FD-75AB65F8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28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Minimum traceability: input + script/flow + constraint + database path + owner + date + result summary</a:t>
            </a:r>
          </a:p>
        </p:txBody>
      </p:sp>
    </p:spTree>
    <p:extLst>
      <p:ext uri="{BB962C8B-B14F-4D97-AF65-F5344CB8AC3E}">
        <p14:creationId xmlns:p14="http://schemas.microsoft.com/office/powerpoint/2010/main" val="14640738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EF0B0B-2F10-43C8-B2C4-2A85571E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BEBC9-6023-46E1-9DC1-310D54D80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06  ISSUE /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664F9-2D7A-4122-9893-0C52D0442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Issue and risk lifecycle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9F558-4131-40DE-86D8-BAC43788A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7FF117-C520-4C85-8DDE-70C630C2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FB1B1-73E9-4E20-8E94-2A5AEF463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1C818D-4C19-4452-A7E9-A567E2B0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Open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45F28-823C-4F87-B1EF-FB07AC2B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933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083"/>
                </a:solidFill>
              </a:defRPr>
            </a:pPr>
            <a:r>
              <a:rPr sz="1800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D61B37-9683-4C25-8104-E42F6D16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A3932E-0D00-45F3-AD9E-8B242D97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Validating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54C19-EAE4-4D7B-851C-B0B47813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933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083"/>
                </a:solidFill>
              </a:defRPr>
            </a:pPr>
            <a:r>
              <a:rPr sz="1800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2678C-E98A-4F4C-AEC6-6079289F9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CE2468-F3D1-40AF-8520-494835F4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Assigned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F3E85B-FA2E-468A-A251-7DFE005F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933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083"/>
                </a:solidFill>
              </a:defRPr>
            </a:pPr>
            <a:r>
              <a:rPr sz="1800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5ABB2E-3273-491D-8D75-FE593ABA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01463-16AD-4CD8-8256-04E67F970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In progress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48C42B-0C9C-4284-915D-CF58894A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33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083"/>
                </a:solidFill>
              </a:defRPr>
            </a:pPr>
            <a:r>
              <a:rPr sz="1800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8AE591-6DA8-4BF8-9B01-FE57FAC7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7D546D-781E-480C-8028-13672E28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Pending verification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AD30E-ECF1-4CC1-B1AC-2272941E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33575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5E7083"/>
                </a:solidFill>
              </a:defRPr>
            </a:pPr>
            <a:r>
              <a:rPr sz="1800" b="1">
                <a:solidFill>
                  <a:srgbClr val="5E7083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4EEB6-678A-480C-B646-05715DD6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1809750"/>
            <a:ext cx="15811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1DDE4E-93FA-4E09-8421-0006E34C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09750"/>
            <a:ext cx="1428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B1F33"/>
                </a:solidFill>
              </a:defRPr>
            </a:pPr>
            <a:r>
              <a:rPr sz="1125" b="1">
                <a:solidFill>
                  <a:srgbClr val="0B1F33"/>
                </a:solidFill>
              </a:rPr>
              <a:t>Closed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A06EC0-F14A-4181-BE5C-1764D189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1A24E-767B-424D-9919-B970D651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7083"/>
          </a:solidFill>
          <a:ln xmlns:a="http://schemas.openxmlformats.org/drawingml/2006/main" w="0">
            <a:solidFill>
              <a:srgbClr val="5E708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9DD3F7-C773-45A3-84E4-EE512E13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62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Observation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5E634-36BA-4ED9-9302-498F7AD69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95675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Not yet validated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AFB4B-37FE-4E3A-807F-2A7F2DB5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480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F669CA-267B-4F8A-B52E-1BD080C4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48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0">
            <a:solidFill>
              <a:srgbClr val="EF4444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BF3CD1-00F5-454C-A4D3-E44524527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62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Issue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997D81-C0E0-49E8-95EB-FA252B68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95675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Confirmed current impact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73583-C096-44E8-AB68-F5E9E483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425354-8B3D-47FD-B309-9AE1AD3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7C52CA-9062-40C2-95AB-35428561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162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10EDC-311C-4ECC-8980-393BF901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95675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Potential future impact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EA477C-8FFF-48BC-A99C-A528D49B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24765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7D8C36-5A80-4142-9C7E-0D43BBB3E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48000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D9B2F8-D0E9-4CDC-B889-A170D9A3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623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Decision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129336E-8317-4943-9972-8643E40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95675"/>
            <a:ext cx="20764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Authorized direction/disposition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363AF2-7A4F-4A15-9980-FC46F515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D797893-1766-4C97-BF02-E52610BFE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CLOSURE OPTIONS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85F357E-02AE-4449-B6FA-669F0FB5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Fixed &amp; verified   •   workaround accepted   •   risk accepted   •   superseded   •   out of scope   •   not reproducible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94FAE1A-619D-4E0E-AD27-B0BE9607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14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Each record requires impact, severity, owner, action, due date and evidence.</a:t>
            </a:r>
          </a:p>
        </p:txBody>
      </p:sp>
    </p:spTree>
    <p:extLst>
      <p:ext uri="{BB962C8B-B14F-4D97-AF65-F5344CB8AC3E}">
        <p14:creationId xmlns:p14="http://schemas.microsoft.com/office/powerpoint/2010/main" val="8146460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AC3037-45D3-431D-88A6-4AA41A06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729CB-ACFB-4A07-8A64-B17EAECA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07  CHANGE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2BD15A-01A3-4D20-B7CD-B750C7F6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Change and decision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FE6973-10E7-4AF4-9099-FBE15F3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64CCF-B3B8-46B2-9EEB-E55C54C7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CD08B1-E8B6-4BAE-8E55-EB522F6E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857375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74A44-F54F-4D92-AB6D-254B2250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668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E17130-D46C-4F44-B5FD-4A32F86C5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D7829B-7689-4303-BCB5-53D216ED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95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Raise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C4CD3-2984-4AE3-B812-F180545F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Describe proposed change and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5EDF6-532D-4FA0-92DD-5ACB4796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857375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BC5052-950C-45F3-8209-1D4B9981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6668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EC69A8-EF76-4C29-947E-342F0DC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2DF2AD-7629-4030-A548-B69A155A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95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Assess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A6A34-F9D2-46F1-821E-936E904A3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Evaluate QoR, scope and schedule 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90B84-87A9-4F51-B321-73B4814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57375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81072F-5754-4B43-863B-B6E1E832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668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419BCC-2A43-4B7D-99EA-85B8F6AF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66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5DF293-1933-459B-81B2-20B005E2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095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Decide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0E7AB2-DDC5-481F-8E52-D9445092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Approve, reject or defer with owner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FBBE47-B9B6-4084-B1B4-806D2DBD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857375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DC4887-8265-43CF-905A-3E455113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6668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1F9C7C-57A7-405C-B675-6E4F9088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75F9A7-7EC1-4F96-9F9A-E2A0B00F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95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Apply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262363-0B21-4EDC-9EA5-0C4CAFC0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336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Update baseline, plan and affected records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EAA8CC-377B-4156-9AE6-2855FAF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1857375"/>
            <a:ext cx="20002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FDA2761-51AF-46CF-AE62-46520144E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1666875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DBA980-B2DE-40DB-AEF1-71A8D7BB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1666875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85393-C72F-46DD-9393-8A7330BC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095500"/>
            <a:ext cx="1657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Inform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C7C55B-A354-4F11-B5A4-05E61C69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33650"/>
            <a:ext cx="161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Communicate effective version and 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650D6D-5F8F-47FD-83A3-23369837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0287000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9C9F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7084F8-7F91-4AEF-9851-9AA9741E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B1F33"/>
                </a:solidFill>
              </a:defRPr>
            </a:pPr>
            <a:r>
              <a:rPr sz="1425" b="1">
                <a:solidFill>
                  <a:srgbClr val="0B1F33"/>
                </a:solidFill>
              </a:rPr>
              <a:t>A decision is not complete until the owner, effective baseline and follow-up actions are recorded.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0FB831-945C-4B60-B309-9F516F20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5300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7083"/>
                </a:solidFill>
              </a:defRPr>
            </a:pPr>
            <a:r>
              <a:rPr sz="1125" b="0">
                <a:solidFill>
                  <a:srgbClr val="5E7083"/>
                </a:solidFill>
              </a:rPr>
              <a:t>Examples: shape update • new netlist/SDC • milestone shift • target change • accepted violation</a:t>
            </a:r>
          </a:p>
        </p:txBody>
      </p:sp>
    </p:spTree>
    <p:extLst>
      <p:ext uri="{BB962C8B-B14F-4D97-AF65-F5344CB8AC3E}">
        <p14:creationId xmlns:p14="http://schemas.microsoft.com/office/powerpoint/2010/main" val="21319982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0436E-88F3-4D38-BE31-586037A9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0A848-7B87-4504-8A6F-77C9B5EF1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08 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CE9E0-31DD-410A-A3F1-8000C0A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Reportable status classification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A99EAF-D196-4659-92C9-B64D69A25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EC063-8614-4971-A47D-B3E7BD79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4BDF73-D2A4-4BDE-B58E-BA4C5F41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3907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9FE1B-BE47-496D-BE5B-AF27FCC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21621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AE989-4245-4748-9DBE-284E9AD7A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24000"/>
            <a:ext cx="40957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54D32C-D590-4B0C-96FC-E58D4912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24000"/>
            <a:ext cx="3867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DEFINITION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24D8C2-B3F3-45E9-86BF-CD2004B4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524000"/>
            <a:ext cx="4486275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C4933B-6064-404B-AE20-187372865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524000"/>
            <a:ext cx="42576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REPORT LANGUAGE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65A3A-679E-468C-A960-77ED8A18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BFBE7-2512-43F9-974A-407B5C7E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A34A"/>
                </a:solidFill>
              </a:defRPr>
            </a:pPr>
            <a:r>
              <a:rPr sz="1125" b="1">
                <a:solidFill>
                  <a:srgbClr val="16A34A"/>
                </a:solidFill>
              </a:rPr>
              <a:t>CONFIRMED FACT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55710-9D56-4904-9612-94B64FE4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431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CF3EE-AA85-44F8-B4B5-9B0F0833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9907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Evidence verified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D6641C-82DD-4170-8815-E7DA66C3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9431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7542E7-E57E-4709-8A55-D9345B3F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9907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“Based on Official B03…”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090FC5-22F6-47E0-AF01-D317C932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8DD1CA-49E7-47C6-829F-14759AB3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9E0B"/>
                </a:solidFill>
              </a:defRPr>
            </a:pPr>
            <a:r>
              <a:rPr sz="1125" b="1">
                <a:solidFill>
                  <a:srgbClr val="F59E0B"/>
                </a:solidFill>
              </a:rPr>
              <a:t>PRELIMINARY FINDING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2B5F62-CE72-482E-8CC3-0B326FF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908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307957-C195-42D5-9B9D-77D30F51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384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Observation exists; analysis continues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59DC26-BFBB-4869-A0F1-6D2795FA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5908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E8C872-689E-457D-B1D8-33F8F4BD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6384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“Current trial indicates…”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DAE45-0BDE-443D-8925-AA627DB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216D4-E161-4DB6-9C69-72C69F09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7083"/>
                </a:solidFill>
              </a:defRPr>
            </a:pPr>
            <a:r>
              <a:rPr sz="1125" b="1">
                <a:solidFill>
                  <a:srgbClr val="5E7083"/>
                </a:solidFill>
              </a:rPr>
              <a:t>ASSUMPTION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2126E4-B069-479B-A0DA-5EBB34B5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385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F4D800-804A-4F85-9C32-94F9706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861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Used temporarily without full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B7BAC4-CFEB-4CB9-9943-1D81B78D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2385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FB5FD5-83A6-4FBC-9301-98A9172F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861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“Assuming input remains…”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D74480-D834-44C0-A6A8-EE96201C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BBEAF5-7958-4D34-980A-8D301AA7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F4444"/>
                </a:solidFill>
              </a:defRPr>
            </a:pPr>
            <a:r>
              <a:rPr sz="1125" b="1">
                <a:solidFill>
                  <a:srgbClr val="EF4444"/>
                </a:solidFill>
              </a:rPr>
              <a:t>RISK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2B86DC-4833-42EA-A06B-70D5DFE4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8862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C17342-8A48-45A2-B8A6-F2A95CC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9338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Potential impact has not occurred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BC47D3-1A32-42CD-8D0C-E68FA45C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862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C09B4D-5609-4B05-AA8C-FFA14288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9338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“There is a risk to…”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709A045-2C37-4509-B387-E81BB8F3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A320464-2EF5-49E2-9B77-9763F50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815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B8A6"/>
                </a:solidFill>
              </a:defRPr>
            </a:pPr>
            <a:r>
              <a:rPr sz="1125" b="1">
                <a:solidFill>
                  <a:srgbClr val="14B8A6"/>
                </a:solidFill>
              </a:rPr>
              <a:t>PROPOSAL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BC00F32-5BE6-402F-B931-9AD25921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5339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593459F-DF82-439C-8336-18401B8E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5815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Solution is not yet approved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13AC5DE-44C5-43CA-8533-9F66A0AD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339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7943FD-E410-43E7-9921-8E6B0D17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45815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“One option under review…”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C0B978-47EF-4952-B3D4-A9E494B0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3907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A0CD109-E449-4686-B05F-F11E359C3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29225"/>
            <a:ext cx="21621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77FF"/>
                </a:solidFill>
              </a:defRPr>
            </a:pPr>
            <a:r>
              <a:rPr sz="1125" b="1">
                <a:solidFill>
                  <a:srgbClr val="1677FF"/>
                </a:solidFill>
              </a:rPr>
              <a:t>DECISION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42F5ED-C84A-4A6C-85F7-5BDCCBFB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409575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97A1191-3D60-446D-9D96-288C2C49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229225"/>
            <a:ext cx="3867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Authorized direction is confirmed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AC595D-0B1D-4036-9C45-0347A071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181600"/>
            <a:ext cx="4486275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485002F-0B48-49EC-AA36-62513095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5229225"/>
            <a:ext cx="4257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“Lead/RD agreed to…”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B6A74A7-9CB0-4917-9A22-DF1C8910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Every external status must include: classification + version/evidence + impact + action + owner + ETA.</a:t>
            </a:r>
          </a:p>
        </p:txBody>
      </p:sp>
    </p:spTree>
    <p:extLst>
      <p:ext uri="{BB962C8B-B14F-4D97-AF65-F5344CB8AC3E}">
        <p14:creationId xmlns:p14="http://schemas.microsoft.com/office/powerpoint/2010/main" val="8006401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F2B174-D301-4EAD-B0F3-F02E402D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77827-C85E-47B9-B795-18383A6F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09  REVIEW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5864C1-FDF1-4A7B-84D8-282E3A88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Risk-based review and approval matrix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6BE2B-410B-4A68-9A8C-F12797AB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DC174A-73A4-46DD-9E84-2EB822327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2CDB9-1419-4CCB-BDC3-2CBE4783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3909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61B3F-BEBB-4AC0-83F1-91C3358C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3162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A8AA0D-4B96-4693-846B-2512BCC0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24000"/>
            <a:ext cx="24765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04EE9-B46A-4FDD-ACE3-8D3B1183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524000"/>
            <a:ext cx="2247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18AC81-C858-4FC9-B43C-76E9707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23812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D6A73-EA9F-4E7C-9C2E-F23B54D5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PEER / REVIEWER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D5D365-988E-4444-8E38-41FE9846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72415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DC4FE5-5D58-41E4-AC02-3499354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52400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LEAD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A8C37-63F2-4EA4-B5CB-C4FD6B39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76AD8A-F6B6-4410-8EDE-2E72C54ED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907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Local trial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FBF60D-EBA7-461F-BBBC-E76F56B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431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592DA-CBEE-4453-B94F-57EEDFC4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9072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F707F6-E604-4115-BB35-81EF7A8F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39281-A5E2-4489-969C-03A26940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9072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548F0E-EEC0-42EE-BB20-19C13A3E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431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71807A-1EBC-4D36-A198-D17615A8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99072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12140D-3AC3-4C0D-8FC3-DB730819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6F8A50-CB59-4A30-8A83-8F7792FBE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Shared trial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91F50-5A8B-424F-940A-D6E6676EC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90AA37-3815-4734-9B3E-91E4CF29B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6193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8BFE3-0988-4F12-93D1-6F52E3C78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7175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CD9B45-C93C-433A-9B28-54A2948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193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Required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C3065-C46C-4303-AA4C-15A57E31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70675C6-8639-4869-8F5E-13DE9898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1937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Lead informed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FEADB8-F7B2-467F-80D8-EF283C9C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E1280D-9949-404A-A74B-E2FA6ADC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480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Internal working update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549801-7C4D-4C27-BA40-4EB7F91D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2004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FA92DD-0F76-4093-816B-0DADED724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24802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B54D6D-3F49-4B45-8480-131A33C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E4B5FA-0ACB-4938-8058-64C31B492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4802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Optional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3ABF17-D6B7-4A9E-8880-47A7297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004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17FCC5-AE77-4104-9F6A-E6578E60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4802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Spot-check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8F66D5-8B17-4768-A3B6-43747E40D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0570C3-EC2E-42FD-851B-78296E5F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766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External / RD status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418BB8-7295-4C0C-9E95-96B481B6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2905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F92D805-C3A0-4092-BD10-2AA70CAA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766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418DB4-28FC-40AF-A392-F0C67C9B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907EFC3-81CC-4DD3-9BEA-64A44463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766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Required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D06BF5-CFFD-4669-8837-C199B698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2905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22D45ED-0734-45BD-B77C-870B890A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87667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77FF"/>
                </a:solidFill>
              </a:defRPr>
            </a:pPr>
            <a:r>
              <a:rPr sz="1050" b="0">
                <a:solidFill>
                  <a:srgbClr val="1677FF"/>
                </a:solidFill>
              </a:rPr>
              <a:t>Approve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B8C260F-EACB-4EB5-B093-747EAC75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F46A0B-45EC-4940-AE4D-5D89FC6C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0532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Critical escalation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CD6569A-6849-49AB-89E0-DF9C2FD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45770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2E27E07-6C12-4FA7-80A9-B7C1449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0532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 + Peer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C8B120C-E9C3-4680-85D1-1BD9793F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5770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6AF338-7055-4F35-8627-0E94B7FE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50532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Support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7D34566-0E45-468B-A2FB-A113B589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5770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D271C9-3F92-4F03-82E7-422065A7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0532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 communication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86BD9D-AC5E-46BE-BB2D-BEA192EF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33909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F703D9-55F3-470E-BE27-604FDD20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33975"/>
            <a:ext cx="3162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52536"/>
                </a:solidFill>
              </a:defRPr>
            </a:pPr>
            <a:r>
              <a:rPr sz="1125" b="1">
                <a:solidFill>
                  <a:srgbClr val="152536"/>
                </a:solidFill>
              </a:rPr>
              <a:t>Official baseline / delivery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033BD90-6E82-435E-AA7E-5135FF35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086350"/>
            <a:ext cx="2476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515A00C-49FD-42BA-8FA8-0323AC76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133975"/>
            <a:ext cx="2247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Owner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5791954-209C-46FF-8D04-878E39AA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2381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8A88403-607C-4709-A58F-CBB35F0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133975"/>
            <a:ext cx="2152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52536"/>
                </a:solidFill>
              </a:defRPr>
            </a:pPr>
            <a:r>
              <a:rPr sz="1050" b="0">
                <a:solidFill>
                  <a:srgbClr val="152536"/>
                </a:solidFill>
              </a:rPr>
              <a:t>Verify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95CA9EE-9119-4B7F-A070-02CC1485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86350"/>
            <a:ext cx="27241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D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B7D0FF-C80C-4941-99F3-6E8A101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5133975"/>
            <a:ext cx="249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77FF"/>
                </a:solidFill>
              </a:defRPr>
            </a:pPr>
            <a:r>
              <a:rPr sz="1050" b="0">
                <a:solidFill>
                  <a:srgbClr val="1677FF"/>
                </a:solidFill>
              </a:rPr>
              <a:t>Approve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DFCF9A4-9799-45D0-BAD8-8F7BCC76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24550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Lead controls the gates—not every execution step.</a:t>
            </a:r>
          </a:p>
        </p:txBody>
      </p:sp>
    </p:spTree>
    <p:extLst>
      <p:ext uri="{BB962C8B-B14F-4D97-AF65-F5344CB8AC3E}">
        <p14:creationId xmlns:p14="http://schemas.microsoft.com/office/powerpoint/2010/main" val="2411987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EBB0A6-40A9-4F23-9278-EA2A9517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D4F98-36F7-4755-8DF8-A06C16E5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10  DELIVERY &amp; CLOSURE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EC86C-91D3-4456-A32D-BE331282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Delivery and acceptance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439A3-70FC-4AA9-822A-750E8BA8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034EDA-ECBA-4ED8-8CFC-0E9CEB2B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28ED45-901A-40D3-B40C-4C4CE26B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7AB39-B259-4A25-B99C-4B815F09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15430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9F853-2634-400C-A71A-EBD1FCF8F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543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216BC-4456-489F-B548-DC77D3D3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Ready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5B3C57-1065-48CB-A38F-0984DA389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3336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Package and checklist 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3323D-2E82-48B6-B406-28CB2695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71450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71F5E9-80A2-4434-8C9F-603F15EB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430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F57FB-EB3A-4C5D-8353-CF2F0EBC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543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265CA-7CF9-4BCA-AE5C-ED4D22D65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952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Released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BB144-5669-4164-BB1F-FEAF5D0A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336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Version, path and receiver confirmed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B392A-61DB-4067-A287-9BA5D1D5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71450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3F22A6-0CB1-4465-94D2-9C5C7B41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5430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853072-B94F-4A56-808B-66BBD82F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43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D809EC-371F-4FEA-B131-BB930F6F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52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Accepted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92814-4812-4130-A9B9-F89EC0D96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3336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Accepted or accepted with conditions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80A1DC-5EB7-4C81-B474-B9A18471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714500"/>
            <a:ext cx="24765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F3360D-4F55-48BD-B879-6F724108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543050"/>
            <a:ext cx="5143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A022C5-552E-4AF4-A0A0-DDA28FA8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543050"/>
            <a:ext cx="38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8C774E-88D3-48DF-A045-4162F653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95262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Closed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A8AF2-DE85-4C24-9752-4F24B429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Actions archived or reassigned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33DEFE-C862-4D01-9B8A-3A20DD26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323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6F79FF-EE58-448C-93C5-C6DD274B3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766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7B2FEF-BE31-4AAF-8330-FC202A09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480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</a:defRPr>
            </a:pPr>
            <a:r>
              <a:rPr sz="1200" b="0">
                <a:solidFill>
                  <a:srgbClr val="152536"/>
                </a:solidFill>
              </a:rPr>
              <a:t>Correct version and release path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BD281A-A6BE-4191-894D-D21B7295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323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C93CD8-22D6-4ADF-A75D-E2D54F59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9338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DEE13E-2B56-43B7-A0A9-E2882ED2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05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</a:defRPr>
            </a:pPr>
            <a:r>
              <a:rPr sz="1200" b="0">
                <a:solidFill>
                  <a:srgbClr val="152536"/>
                </a:solidFill>
              </a:rPr>
              <a:t>Required QoR/check reports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62AD85-0BBA-4F42-BECF-AB1F8CB7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91025"/>
            <a:ext cx="323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76991E-93B3-453B-BCDD-7B9312D4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3910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B4D15F-596B-4E96-94AB-1AA8548B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</a:defRPr>
            </a:pPr>
            <a:r>
              <a:rPr sz="1200" b="0">
                <a:solidFill>
                  <a:srgbClr val="152536"/>
                </a:solidFill>
              </a:rPr>
              <a:t>Known limitations and waivers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02B712-1393-4B03-A3F7-963A5611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48225"/>
            <a:ext cx="323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174F6C-8FE6-45F1-A705-BF4BC5E3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8482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F326022-B8C0-46B1-B99F-BB3DC2BF0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196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</a:defRPr>
            </a:pPr>
            <a:r>
              <a:rPr sz="1200" b="0">
                <a:solidFill>
                  <a:srgbClr val="152536"/>
                </a:solidFill>
              </a:rPr>
              <a:t>Open actions, owner and due date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741E45-74DD-496B-A8DE-180C1BDC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05425"/>
            <a:ext cx="3238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5B9161-A93B-4489-B6A9-E68E9D8B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3054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133D0-91E7-4ED6-BF3B-50FB700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52536"/>
                </a:solidFill>
              </a:defRPr>
            </a:pPr>
            <a:r>
              <a:rPr sz="1200" b="0">
                <a:solidFill>
                  <a:srgbClr val="152536"/>
                </a:solidFill>
              </a:rPr>
              <a:t>Receiver acknowledgement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251173-39E9-480B-B102-2B0559C32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76625"/>
            <a:ext cx="462915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9FB49E-EFE9-49F2-B06A-38E26933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766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59E0B"/>
                </a:solidFill>
              </a:defRPr>
            </a:pPr>
            <a:r>
              <a:rPr sz="975" b="1">
                <a:solidFill>
                  <a:srgbClr val="F59E0B"/>
                </a:solidFill>
              </a:rPr>
              <a:t>NO RESPONSE?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B04AB4-808E-4D3C-92A7-747A3879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48125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Follow up within the agreed review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Escalate when acceptance blocks the milestone.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1">
                <a:solidFill>
                  <a:srgbClr val="0B1F33"/>
                </a:solidFill>
              </a:defRPr>
            </a:pPr>
            <a:r>
              <a:rPr sz="1200" b="1">
                <a:solidFill>
                  <a:srgbClr val="0B1F33"/>
                </a:solidFill>
              </a:rPr>
              <a:t>Do not silently treat no response as acceptance.</a:t>
            </a:r>
          </a:p>
        </p:txBody>
      </p:sp>
    </p:spTree>
    <p:extLst>
      <p:ext uri="{BB962C8B-B14F-4D97-AF65-F5344CB8AC3E}">
        <p14:creationId xmlns:p14="http://schemas.microsoft.com/office/powerpoint/2010/main" val="5996198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6C114-53B0-46A7-9D24-C161CB38F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6AD50-2B4F-4994-9695-E9D895C4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11  OPERATING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5ED1D3-D287-4E1F-83EB-D01E5C5A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Minimum project control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DA372-330B-4F02-ADB5-141875A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C17A1-0056-42CF-8378-25BD315C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88A26-A0C6-4C57-AE1B-29AF1084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7083"/>
                </a:solidFill>
              </a:defRPr>
            </a:pPr>
            <a:r>
              <a:rPr sz="1500" b="0">
                <a:solidFill>
                  <a:srgbClr val="5E7083"/>
                </a:solidFill>
              </a:rPr>
              <a:t>One shared workbook or dashboard is the source of truth.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0BE14-B60F-427E-9334-D1949843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C686B-061A-4EF4-9BB8-EE656DD5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759A6-3CF1-435E-994E-30834718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1145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PROJECT SUMMARY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61202A-67BB-436C-8837-07432DEDF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447925"/>
            <a:ext cx="481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scope • milestone • owner • acceptance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19B663-D83E-4DB7-A63F-3030E109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CCA47-922A-416D-8410-C54F56F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002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0">
            <a:solidFill>
              <a:srgbClr val="1677F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7785E5-2C9D-4838-BEDF-31A5F179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1145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VERSION REGISTER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FCE91-3452-4661-B5AC-8027B040A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447925"/>
            <a:ext cx="481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shared trials • official baselines • changes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0FFBE9-FD19-4B0E-B8AF-A143D4D9A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E8D6F-2063-4587-B445-455291BBB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4E9B59-4568-4C1A-97A8-A6230B17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48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ISSUE / RISK / DECISION LOG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6A7133-195E-4CBA-853B-9190A1C6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781425"/>
            <a:ext cx="481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severity • action • owner • ETA • closure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637768-08C6-4980-A3DE-F4676BB3F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52197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57AF6-E4B0-44B8-9265-D29334AC0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33750"/>
            <a:ext cx="6667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6B2FD5-7312-46EF-95B0-B38C3AA8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448050"/>
            <a:ext cx="481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DELIVERY / COMMITMENT 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060227-E2BF-4CA5-A5CF-5894CB0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3781425"/>
            <a:ext cx="4819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E7083"/>
                </a:solidFill>
              </a:defRPr>
            </a:pPr>
            <a:r>
              <a:rPr sz="1050" b="0">
                <a:solidFill>
                  <a:srgbClr val="5E7083"/>
                </a:solidFill>
              </a:rPr>
              <a:t>release • acceptance • remaining actions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B46A0-E338-4D2B-9E1F-1F424E351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6870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90413F-21CF-4AC3-9E14-1D9030DA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05400"/>
            <a:ext cx="809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FC7FF"/>
                </a:solidFill>
              </a:defRPr>
            </a:pPr>
            <a:r>
              <a:rPr sz="900" b="1">
                <a:solidFill>
                  <a:srgbClr val="7FC7FF"/>
                </a:solidFill>
              </a:rPr>
              <a:t>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F5C3F-BE6D-4FEA-9EB5-3DFA05D7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95875"/>
            <a:ext cx="923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Update at the event—not only before the weekly report. Archive after milestone closure.</a:t>
            </a:r>
          </a:p>
        </p:txBody>
      </p:sp>
    </p:spTree>
    <p:extLst>
      <p:ext uri="{BB962C8B-B14F-4D97-AF65-F5344CB8AC3E}">
        <p14:creationId xmlns:p14="http://schemas.microsoft.com/office/powerpoint/2010/main" val="9177185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C99C83-4176-4BF0-A0CF-F7208D14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F4F7F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70E6C4-A363-4086-8557-8F644424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677FF"/>
                </a:solidFill>
              </a:defRPr>
            </a:pPr>
            <a:r>
              <a:rPr sz="900" b="1">
                <a:solidFill>
                  <a:srgbClr val="1677FF"/>
                </a:solidFill>
              </a:rPr>
              <a:t>12  ROLLOUT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4F3EC3-02E8-4512-B9D8-11DAAF5E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1F33"/>
                </a:solidFill>
              </a:defRPr>
            </a:pPr>
            <a:r>
              <a:rPr sz="2250" b="1">
                <a:solidFill>
                  <a:srgbClr val="0B1F33"/>
                </a:solidFill>
              </a:rPr>
              <a:t>Implementation rules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02946-2B7A-4A0E-B88F-AE3112FE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F70C3-0B9B-4ED5-8E05-F7BD0AA8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E7083"/>
                </a:solidFill>
              </a:defRPr>
            </a:pPr>
            <a:r>
              <a:rPr sz="825" b="1">
                <a:solidFill>
                  <a:srgbClr val="5E708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0DDA39-626A-4256-B450-14794BBD6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400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65F2-A045-4A64-A1A6-02504A4F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049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D72C09-B8B1-4B01-A7D3-C59CC350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049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Define the source of 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C6782-F28B-44F0-8B0A-36CB59C8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049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One shared location and owner.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16E3E-25F6-42F1-82D1-1BDA60AA9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400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A39F41-C3CC-4ECC-A1F5-1FE4EA9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431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1D357-EF23-4C4F-A191-F7CE0514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Start with critical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EF171A-B2F9-4806-A1AF-338646F2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Official baselines, external reports and delivery.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039A52-56B9-4A5F-8F5E-3E178516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00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0FB300-1999-4F1D-BAB8-3F2248D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1813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02535A-30A4-4BBB-9954-F0AFF9A4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Set review thresholds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83EBB-10A0-4786-BD0A-B98A211A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813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Avoid Lead approval for low-risk work.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917257-79B1-4321-8C87-78AE54F5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00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7CEDB-85FF-4CDD-B188-26684291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195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C0B49-3666-4C1B-BB2C-2E7E824F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19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Review weekly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BDE8DC-3277-4E62-8BAA-63503EF8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195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Check overdue issues, open decisions and commitments.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8E869-C93F-44B7-A13B-268747B7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400050" cy="3048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14B8A6"/>
          </a:solidFill>
          <a:ln xmlns:a="http://schemas.openxmlformats.org/drawingml/2006/main" w="9525">
            <a:solidFill>
              <a:srgbClr val="14B8A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83AAF-CC0E-4B3B-9A16-5A46576D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0356F8-779F-4F94-8AE3-92CB81A8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57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F33"/>
                </a:solidFill>
              </a:defRPr>
            </a:pPr>
            <a:r>
              <a:rPr sz="1275" b="1">
                <a:solidFill>
                  <a:srgbClr val="0B1F33"/>
                </a:solidFill>
              </a:rPr>
              <a:t>Improve after each milestone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2C1309-6C9C-4723-9AD8-C30D4EEB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8577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7083"/>
                </a:solidFill>
              </a:defRPr>
            </a:pPr>
            <a:r>
              <a:rPr sz="1275" b="0">
                <a:solidFill>
                  <a:srgbClr val="5E7083"/>
                </a:solidFill>
              </a:rPr>
              <a:t>Remove fields that do not support a decision.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E667B3-EC46-43D8-A092-065D2313B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91200"/>
            <a:ext cx="10477500" cy="43815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A9C9F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75554D-CF42-4483-88F5-29E9CC14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9120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B1F33"/>
                </a:solidFill>
              </a:defRPr>
            </a:pPr>
            <a:r>
              <a:rPr sz="1350" b="1">
                <a:solidFill>
                  <a:srgbClr val="0B1F33"/>
                </a:solidFill>
              </a:rPr>
              <a:t>A good process increases visibility without creating a reporting bottleneck.</a:t>
            </a:r>
          </a:p>
        </p:txBody>
      </p:sp>
    </p:spTree>
    <p:extLst>
      <p:ext uri="{BB962C8B-B14F-4D97-AF65-F5344CB8AC3E}">
        <p14:creationId xmlns:p14="http://schemas.microsoft.com/office/powerpoint/2010/main" val="10997759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D14E4F-85AE-4C75-914B-4ADD6F75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9525">
            <a:solidFill>
              <a:srgbClr val="0B1F33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0EABFD-A4F5-4E09-9460-E67B4E0B7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FC7FF"/>
                </a:solidFill>
              </a:defRPr>
            </a:pPr>
            <a:r>
              <a:rPr sz="975" b="1">
                <a:solidFill>
                  <a:srgbClr val="7FC7FF"/>
                </a:solidFill>
              </a:rPr>
              <a:t>THE CONTROL PRINCIPLE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306139-F707-495D-8509-E85EC9FA3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66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Clear state.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Controlled baseline.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Closed loop.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A8B044-E152-40B9-9776-970A3036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38100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153A58"/>
          </a:solidFill>
          <a:ln xmlns:a="http://schemas.openxmlformats.org/drawingml/2006/main" w="9525">
            <a:solidFill>
              <a:srgbClr val="31536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51DDC-FBDA-486D-B323-083423BD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FC7FF"/>
                </a:solidFill>
              </a:defRPr>
            </a:pPr>
            <a:r>
              <a:rPr sz="1200" b="1">
                <a:solidFill>
                  <a:srgbClr val="7FC7FF"/>
                </a:solidFill>
              </a:rPr>
              <a:t>Lead responsibility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AA13EB-ADCB-4740-A517-4CD114D8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38375"/>
            <a:ext cx="2952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Make the project state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verified, traceable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and actionable.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3E2483-CCDD-457C-9893-3986B621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7D4E2"/>
                </a:solidFill>
              </a:defRPr>
            </a:pPr>
            <a:r>
              <a:rPr sz="1500" b="0">
                <a:solidFill>
                  <a:srgbClr val="C7D4E2"/>
                </a:solidFill>
              </a:rPr>
              <a:t>Technical quality + control discipline = reliable execution</a:t>
            </a:r>
          </a:p>
        </p:txBody>
      </p:sp>
    </p:spTree>
    <p:extLst>
      <p:ext uri="{BB962C8B-B14F-4D97-AF65-F5344CB8AC3E}">
        <p14:creationId xmlns:p14="http://schemas.microsoft.com/office/powerpoint/2010/main" val="7191359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2026-07-11T14:31:11.6030000Z</dcterms:created>
  <dcterms:modified xsi:type="dcterms:W3CDTF">2026-07-11T14:31:11.6030000Z</dcterms:modified>
</coreProperties>
</file>